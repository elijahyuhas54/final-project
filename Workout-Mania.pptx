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63" r:id="rId12"/>
    <p:sldId id="264" r:id="rId13"/>
    <p:sldId id="265" r:id="rId14"/>
    <p:sldId id="266" r:id="rId15"/>
    <p:sldId id="269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136C3-8607-DFA8-98DD-4039F13FAA75}" v="193" dt="2025-11-28T04:16:33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700" y="3984"/>
            <a:ext cx="7032474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3985"/>
            <a:ext cx="7329573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627048" y="1542402"/>
            <a:ext cx="3890131" cy="2387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4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Workout - Mania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26601" y="4001587"/>
            <a:ext cx="3891025" cy="6820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FFFFFF"/>
                </a:solidFill>
              </a:defRPr>
            </a:pP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Personalized Fitness Planning with Machine Learning</a:t>
            </a:r>
            <a:endParaRPr lang="en-US" sz="2400" kern="1200" dirty="0">
              <a:solidFill>
                <a:schemeClr val="tx2"/>
              </a:solidFill>
              <a:latin typeface="+mn-lt"/>
              <a:ea typeface="Calibri"/>
              <a:cs typeface="Calibri"/>
            </a:endParaRPr>
          </a:p>
          <a:p>
            <a:pPr algn="ctr"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FFFFFF"/>
                </a:solidFill>
              </a:defRPr>
            </a:pPr>
            <a:endParaRPr lang="en-US" sz="2400" dirty="0">
              <a:solidFill>
                <a:schemeClr val="tx2"/>
              </a:solidFill>
              <a:ea typeface="Calibri"/>
              <a:cs typeface="Calibri"/>
            </a:endParaRPr>
          </a:p>
          <a:p>
            <a:pPr algn="ctr"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tx2"/>
                </a:solidFill>
                <a:ea typeface="Calibri"/>
                <a:cs typeface="Calibri"/>
              </a:rPr>
              <a:t>Elijah Yuhas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4155"/>
            <a:ext cx="1886210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264295" y="4683666"/>
            <a:ext cx="1886211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6721C-79F7-C9AE-C945-5911A67E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Generic workout plans fail 70% of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One-size-fits-all approach ignores: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Individual fitness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Age and physical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Personal goals and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Risk of injury from inappropriate exercises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Solution: AI-powered personalized workout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Analyzes user profile (age, weight, height, fitness level)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Generates customized plans using Google Gemini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Learns from user feedback to improve recommendations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E13D30E-7102-6817-7751-A38CC3B3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iOS App (SwiftUI)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User authentication and profile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Workout plan generation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Firebase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Firestore: User profiles, workout plans, feedback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Authentication: Persistent user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Google Gemini AI (2.5-flash)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REST API integration for workout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Natural language processing of user profiles</a:t>
            </a:r>
          </a:p>
        </p:txBody>
      </p:sp>
      <p:pic>
        <p:nvPicPr>
          <p:cNvPr id="13" name="Picture 12" descr="A diagram of a system&#10;&#10;AI-generated content may be incorrect.">
            <a:extLst>
              <a:ext uri="{FF2B5EF4-FFF2-40B4-BE49-F238E27FC236}">
                <a16:creationId xmlns:a16="http://schemas.microsoft.com/office/drawing/2014/main" id="{4BFB39B0-4316-0F1A-7761-BC5036DAB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607" y="3066745"/>
            <a:ext cx="4366505" cy="3000781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0A86A82-3686-5690-5CEB-98240A14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Data Source: User workout feedback collected in-app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User Physical Attributes: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Age (13-80 years), Weight (30-200 kg), Height (120-230 cm)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Workout Information: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Fitness Level: Beginner, Intermediate, Advanced, Professional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Duration: Day, Week, Month,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Outcome Metrics: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Completion Rate (0-100%), Difficulty Rating (1-5)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Effectiveness Rating (1-5), Injury Occurrence (Yes/No)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Days Completed, User Feedback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Dataset Size: 50 samples for testing (expandable to 500+)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24CC165-E4D2-5D7D-A722-A034A90B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 Model: Google Gemini 2.5-Flash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Why Gemini?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Zero Infrastructure: No training servers or GPU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Natural Language Understanding: Processes user characteristics contextually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Real-time Inference: Generates plans in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Cost-Effective: Free tier (60 requests/minute)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Explainable: Can provide reasoning for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Alternatives Considered: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Random Forest: Required manual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Neural Networks: Needed extensive training data (1000+ samples)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XGBoost: Strong but less explainable than Gemini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0AFE39D-0559-596E-5987-AD399939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1.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Remove invalid entries (negative values, missing fields)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Validate data ranges (age 13-80, weight 30-200kg, etc.)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2. Normalization &amp;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Standardize fitness levels (Beginner → 1, ..., Professional → 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Convert durations to days (Day → 1, Week → 7, etc.)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3. Outlier Removal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Filter extreme values indicating data entry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4. Class Balancing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Equal representation of successful/unsuccessful workouts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5. Train/Test Split: 80% training, 20% testing (randomized)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B700BC-D7AE-C2FE-B05A-EFC0D8B8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Model Training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Training Phase: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1. Send training dataset to Gemini via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2. Gemini analyzes patterns in user profiles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3. Learns which user types succeed with which workouts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4. Identifies injury risk factors and safety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Testing Phase: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1. For each test sample, provide user profile to 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2. Gemini predicts: success rate, difficulty, safety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3. Compare predictions with actual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4. Calculate evaluation metrics</a:t>
            </a:r>
          </a:p>
        </p:txBody>
      </p:sp>
      <p:pic>
        <p:nvPicPr>
          <p:cNvPr id="14" name="Picture 13" descr="A screenshot of a machine learning pipeline&#10;&#10;AI-generated content may be incorrect.">
            <a:extLst>
              <a:ext uri="{FF2B5EF4-FFF2-40B4-BE49-F238E27FC236}">
                <a16:creationId xmlns:a16="http://schemas.microsoft.com/office/drawing/2014/main" id="{B287C051-4BB2-D8AA-0828-FEBD2D036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073" y="3294320"/>
            <a:ext cx="3440958" cy="300706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D5B3228-E30C-649D-F88D-387849D2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739C2-6AE0-D837-C1E0-0F9E31B87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C25127-F5D6-9EC5-ADD3-8B0006E0B791}"/>
              </a:ext>
            </a:extLst>
          </p:cNvPr>
          <p:cNvSpPr/>
          <p:nvPr/>
        </p:nvSpPr>
        <p:spPr>
          <a:xfrm>
            <a:off x="941295" y="5279511"/>
            <a:ext cx="7261411" cy="7398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Firebase 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Plans</a:t>
            </a:r>
            <a:endParaRPr lang="en-US" sz="3100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E3DA5A-6469-7FB8-6886-490F264F3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5" y="670162"/>
            <a:ext cx="8209369" cy="4043114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11A017B-C036-CC9E-FCA9-200BA5894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49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53AD4-EA46-F168-DF2B-E0F96607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4828220-5114-5137-43C2-6173154D6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F7B7921-F8E5-BC09-924E-7F789877D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CCCE63-A238-43EE-79D8-D52376430C97}"/>
              </a:ext>
            </a:extLst>
          </p:cNvPr>
          <p:cNvSpPr/>
          <p:nvPr/>
        </p:nvSpPr>
        <p:spPr>
          <a:xfrm>
            <a:off x="941295" y="5279511"/>
            <a:ext cx="7261411" cy="7398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Firebase 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Feedback</a:t>
            </a:r>
            <a:endParaRPr lang="en-US" sz="3100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4B5237-6564-41FC-A06D-FA649D8FB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5" y="670473"/>
            <a:ext cx="8209369" cy="40424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14BE3-423D-FBD5-331B-392EBDC9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58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4D28F-791D-7CE6-BFC3-5C4DDE0B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6A37E5A-E4CB-2D38-5DAD-31003FEA2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0A1484A-EC94-1B8C-08C0-D654AF66B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7DA652-1D7E-7D47-C78B-FA23B4B9B055}"/>
              </a:ext>
            </a:extLst>
          </p:cNvPr>
          <p:cNvSpPr/>
          <p:nvPr/>
        </p:nvSpPr>
        <p:spPr>
          <a:xfrm>
            <a:off x="941295" y="5279511"/>
            <a:ext cx="7261411" cy="7398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Firebase 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j-ea"/>
              <a:cs typeface="+mj-cs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0A88C3-CBDF-AB20-7916-BCE5E2848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5" y="672694"/>
            <a:ext cx="8209369" cy="40380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3C2BF-BCC6-9414-FF5F-74BF1FBF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15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Evaluation Metrics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950" y="4792133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Test Set: 50 samples (20% of dataset)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5249333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Accuracy: 56.00% - Overall prediction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" y="5569373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Precision: 56.25% - Of positive predictions, 56% were 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950" y="58894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Recall: 96.43% - Caught 96% of successful workouts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950" y="62094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F1 Score: 71.05% - Balanced performance metric</a:t>
            </a:r>
          </a:p>
        </p:txBody>
      </p:sp>
      <p:pic>
        <p:nvPicPr>
          <p:cNvPr id="9" name="Picture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6C43FC8-B27C-6C89-1A61-12F6371C3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18" t="31347" r="16260" b="41844"/>
          <a:stretch>
            <a:fillRect/>
          </a:stretch>
        </p:blipFill>
        <p:spPr>
          <a:xfrm>
            <a:off x="1190824" y="1185469"/>
            <a:ext cx="6764676" cy="3605952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3ACE5C-90E6-7ABA-1D48-4F834BBF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Confusion Matrix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0055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True Positives (TP): 27 - Correctly predicted successful workouts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2059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True Negatives (TN): 1 - Correctly predicted unsuccessful workouts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4062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False Positives (FP): 21 - Predicted success but actually failed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6066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False Negatives (FN): 1 - Predicted failure but actually succeeded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2642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Model is cautious: Prefers false positives over false negatives</a:t>
            </a:r>
          </a:p>
        </p:txBody>
      </p:sp>
      <p:pic>
        <p:nvPicPr>
          <p:cNvPr id="9" name="Picture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681C677-8C40-98B0-B758-8D969401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93" t="58391" r="15385" b="17401"/>
          <a:stretch>
            <a:fillRect/>
          </a:stretch>
        </p:blipFill>
        <p:spPr>
          <a:xfrm>
            <a:off x="2032717" y="910166"/>
            <a:ext cx="4995600" cy="331422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DC25A1-F7BD-10F0-5348-DBA77F0A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What Worked Well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High Recall (96.43%): Model rarely misses successful workout matches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Seamless Gemini API integration with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Real-time workout generation in 2-3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User-friendly feedback collection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Challenges &amp; Solutions 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Small Dataset (50): Limited accuracy → Solution: Synthetic data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High False Positives: Model too optimistic → Needs larger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Gemini Model Availability: gemini-pro not found → Switched to 2.5-flash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Firebase Config: Complex setup → Created detailed setup guide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9AE6B9-C5E2-5BFC-3CD5-4909DFBF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31CD023C-FFC6-D860-998F-D399BC078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9199" y="2423583"/>
            <a:ext cx="2464482" cy="458258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Application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User Flow: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1. Sign up / Login → Firebase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2. Create Profile → Enter age, weight, height, fitness level,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3. Generate Plan → Select duration, Gemini creates personalized workout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9617" y="2506556"/>
            <a:ext cx="5382684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rPr lang="en-US" dirty="0"/>
              <a:t>4. View Plans → Browse all generated plans, formatted with markdown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defRPr sz="1600">
                <a:solidFill>
                  <a:srgbClr val="333333"/>
                </a:solidFill>
              </a:defRPr>
            </a:pPr>
            <a:endParaRPr dirty="0">
              <a:ea typeface="Calibri"/>
              <a:cs typeface="Calibri"/>
            </a:endParaRPr>
          </a:p>
        </p:txBody>
      </p:sp>
      <p:pic>
        <p:nvPicPr>
          <p:cNvPr id="13" name="Picture 1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8BE84FB-78CA-0F8C-E6A7-E40581D08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84" y="2423583"/>
            <a:ext cx="2390398" cy="45825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53382E-8D3E-8980-2C3A-58F02ECC76E4}"/>
              </a:ext>
            </a:extLst>
          </p:cNvPr>
          <p:cNvSpPr txBox="1"/>
          <p:nvPr/>
        </p:nvSpPr>
        <p:spPr>
          <a:xfrm>
            <a:off x="1589616" y="3046305"/>
            <a:ext cx="5382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5. Submit Feedback → Rate difficulty, effectiveness, completion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FE32F85-1480-239B-0F07-9D8FDD21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ell phone with a message&#10;&#10;AI-generated content may be incorrect.">
            <a:extLst>
              <a:ext uri="{FF2B5EF4-FFF2-40B4-BE49-F238E27FC236}">
                <a16:creationId xmlns:a16="http://schemas.microsoft.com/office/drawing/2014/main" id="{6792674D-FE03-2CB2-6799-697766E97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34" y="1123527"/>
            <a:ext cx="2417519" cy="46048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42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E88207B1-C1A2-EBD7-E7AB-70179BF96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751" y="1123527"/>
            <a:ext cx="2417519" cy="46048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9694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 shot of a phone&#10;&#10;AI-generated content may be incorrect.">
            <a:extLst>
              <a:ext uri="{FF2B5EF4-FFF2-40B4-BE49-F238E27FC236}">
                <a16:creationId xmlns:a16="http://schemas.microsoft.com/office/drawing/2014/main" id="{D1295701-E2B3-BF26-F896-F92F107FF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912" y="1123528"/>
            <a:ext cx="2417519" cy="460480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68FF9EA-443C-69AF-932B-C759CF56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30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Key Takeaways: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Built complete ML pipeline in iOS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Achieved 71% F1 score with only 50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Gemini API enables AI without ML expertise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High recall (96%) prioritizes user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Future Improvements: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Collect 200+ samples → Target 80%+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Implement A/B testing for prompt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Add injury risk prediction with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Track user progress over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59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Fine-tune with more diverse user profiles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0FEBE46-88DB-38E6-E1CB-26D438AFE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361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Sources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Google Gemini API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33333"/>
                </a:solidFill>
              </a:defRPr>
            </a:pPr>
            <a:r>
              <a:t>https://ai.google.dev/docs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Firebase iOS SDK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33333"/>
                </a:solidFill>
              </a:defRPr>
            </a:pPr>
            <a:r>
              <a:t>https://firebase.google.com/docs/ios/setup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Machine Learning Evaluation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33333"/>
                </a:solidFill>
              </a:defRPr>
            </a:pPr>
            <a:r>
              <a:t>Precision, Recall, F1 Score - Scikit-learn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SwiftUI Documentation - Apple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33333"/>
                </a:solidFill>
              </a:defRPr>
            </a:pPr>
            <a:r>
              <a:t>https://developer.apple.com/documentation/swiftui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iOS App Development Best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33333"/>
                </a:solidFill>
              </a:defRPr>
            </a:pPr>
            <a:r>
              <a:t>Apple Human Interface Guidelines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584DE6-336D-5252-FB85-9F6E04A7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80</cp:revision>
  <dcterms:created xsi:type="dcterms:W3CDTF">2013-01-27T09:14:16Z</dcterms:created>
  <dcterms:modified xsi:type="dcterms:W3CDTF">2025-11-28T04:20:56Z</dcterms:modified>
  <cp:category/>
</cp:coreProperties>
</file>